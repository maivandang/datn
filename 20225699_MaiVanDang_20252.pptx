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9" r:id="rId5"/>
    <p:sldId id="257" r:id="rId6"/>
    <p:sldId id="260" r:id="rId7"/>
    <p:sldId id="261" r:id="rId8"/>
    <p:sldId id="258" r:id="rId9"/>
    <p:sldId id="264" r:id="rId10"/>
    <p:sldId id="271" r:id="rId11"/>
    <p:sldId id="275" r:id="rId12"/>
    <p:sldId id="270" r:id="rId13"/>
    <p:sldId id="272" r:id="rId14"/>
    <p:sldId id="273" r:id="rId15"/>
    <p:sldId id="274" r:id="rId16"/>
    <p:sldId id="269" r:id="rId17"/>
    <p:sldId id="277" r:id="rId18"/>
    <p:sldId id="278" r:id="rId19"/>
    <p:sldId id="282" r:id="rId20"/>
    <p:sldId id="279" r:id="rId21"/>
    <p:sldId id="280" r:id="rId22"/>
    <p:sldId id="281" r:id="rId23"/>
    <p:sldId id="26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150307-B196-460F-A1BE-121881B11E46}" v="3" dt="2023-04-19T02:16:49.489"/>
    <p1510:client id="{E911B747-5699-400F-9A4F-AC9867AAF780}" v="194" dt="2023-04-18T03:40:50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t>7/10/2026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7/10/2026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7/10/2026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7/10/2026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7/10/2026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635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37FC17F-78B9-4DA3-B1E3-B6651CB17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8005" y="322818"/>
            <a:ext cx="3174367" cy="952975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5702E00C-3125-4CD1-A5F8-64723BF48E3E}"/>
              </a:ext>
            </a:extLst>
          </p:cNvPr>
          <p:cNvSpPr txBox="1">
            <a:spLocks/>
          </p:cNvSpPr>
          <p:nvPr/>
        </p:nvSpPr>
        <p:spPr>
          <a:xfrm>
            <a:off x="386634" y="2219413"/>
            <a:ext cx="7342482" cy="848792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72BF49D9-2FCE-4950-8B1C-F580CC18F4C9}"/>
              </a:ext>
            </a:extLst>
          </p:cNvPr>
          <p:cNvSpPr txBox="1">
            <a:spLocks/>
          </p:cNvSpPr>
          <p:nvPr/>
        </p:nvSpPr>
        <p:spPr>
          <a:xfrm>
            <a:off x="386634" y="3884623"/>
            <a:ext cx="10613875" cy="848793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F4829-01AB-4F75-A03B-DF4FC4C3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AB5E1FB-AFEB-2850-B1CC-75C8CAE43395}"/>
              </a:ext>
            </a:extLst>
          </p:cNvPr>
          <p:cNvSpPr txBox="1"/>
          <p:nvPr/>
        </p:nvSpPr>
        <p:spPr>
          <a:xfrm>
            <a:off x="438005" y="1727693"/>
            <a:ext cx="931009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>
                <a:solidFill>
                  <a:srgbClr val="C00000"/>
                </a:solidFill>
              </a:rPr>
              <a:t>PHÁT TRIỂN HỆ THỐNG NHẬN DIỆN NGƯỜI DÙNG QUA HÀNH VI SỬ DỤNG ĐIỆN THOẠI VỚI CƠ CHẾ XÁC THỰC DỰ PHÒNG BẰNG CỬ CHỈ CHUYỂN ĐỘNG</a:t>
            </a:r>
            <a:endParaRPr lang="vi-VN" sz="3200">
              <a:solidFill>
                <a:srgbClr val="C00000"/>
              </a:solidFill>
            </a:endParaRP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3A84007-AAA8-4538-B911-EC1DD55BB5F0}"/>
              </a:ext>
            </a:extLst>
          </p:cNvPr>
          <p:cNvSpPr txBox="1"/>
          <p:nvPr/>
        </p:nvSpPr>
        <p:spPr>
          <a:xfrm>
            <a:off x="386634" y="3996036"/>
            <a:ext cx="4386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Mai Văn Đăng - 20225699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20CEA0A-A3BE-2049-495B-C78774C2BECD}"/>
              </a:ext>
            </a:extLst>
          </p:cNvPr>
          <p:cNvSpPr txBox="1"/>
          <p:nvPr/>
        </p:nvSpPr>
        <p:spPr>
          <a:xfrm>
            <a:off x="386634" y="4828315"/>
            <a:ext cx="6014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GVHD: PGS.TS. Nguyễn Linh Giang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3AB5-95DF-4273-871C-843529DB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chính</a:t>
            </a:r>
            <a:br>
              <a:rPr lang="vi-VN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3E091-9DCD-4DE7-96D1-A93E44E0F5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101653"/>
            <a:ext cx="11514528" cy="4909124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vi-VN"/>
              <a:t>Đặt vấn đề &amp; mục tiêu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Tổng quan giải pháp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Xây dựng dữ liệu &amp; tiền xử lý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Xây dựng mô hình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Kết quả đánh giá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Triển khai &amp; Kết luận</a:t>
            </a:r>
          </a:p>
          <a:p>
            <a:pPr marL="514350" indent="-514350">
              <a:buFont typeface="+mj-lt"/>
              <a:buAutoNum type="arabicPeriod"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879D-D188-4DA3-8675-F8BCF379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3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Đặt vấn đề &amp; Mục tiêu</a:t>
            </a:r>
            <a:br>
              <a:rPr lang="vi-VN"/>
            </a:b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8196C5E-7B93-4E81-B617-CD97C06D603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0200" y="1406769"/>
            <a:ext cx="11735420" cy="4655894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Đặt vấn đề</a:t>
            </a:r>
          </a:p>
          <a:p>
            <a:r>
              <a:rPr lang="vi-VN" sz="2400"/>
              <a:t>Xác thực hiện nay chỉ diễn ra một lần lúc mở khóa</a:t>
            </a:r>
          </a:p>
          <a:p>
            <a:pPr marL="0" indent="0">
              <a:buNone/>
            </a:pPr>
            <a:r>
              <a:rPr lang="vi-VN" sz="2400"/>
              <a:t>   → mở khóa xong không kiểm soát lại danh tính</a:t>
            </a:r>
          </a:p>
          <a:p>
            <a:r>
              <a:rPr lang="vi-VN" sz="2400"/>
              <a:t>Sinh trắc học hành vi: xác thực liên tục, tận dụng cảm biến có sẵn - không cần phần cứng riêng</a:t>
            </a:r>
          </a:p>
          <a:p>
            <a:r>
              <a:rPr lang="vi-VN" sz="2400"/>
              <a:t>Khoảng trống nghiên cứu: thiếu phát hiện người lạ (tập mở) và thiếu cơ chế phản ứng khi bất thường</a:t>
            </a:r>
          </a:p>
          <a:p>
            <a:pPr marL="0" indent="0">
              <a:buNone/>
            </a:pPr>
            <a:r>
              <a:rPr lang="vi-VN" b="1"/>
              <a:t>Mục tiêu</a:t>
            </a:r>
            <a:endParaRPr lang="vi-VN"/>
          </a:p>
          <a:p>
            <a:pPr marL="0" indent="0">
              <a:buNone/>
            </a:pPr>
            <a:r>
              <a:rPr lang="vi-VN" sz="2400"/>
              <a:t>Xây dựng hệ thống xác thực hành vi liên tục chạy trên thiết bị, phát hiện người lạ, kèm dự phòng bằng cử chỉ lắc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5D019-96A4-4D1E-AFB5-09D65C86E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Tổng quan giải pháp</a:t>
            </a:r>
            <a:br>
              <a:rPr lang="vi-VN"/>
            </a:b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4677A-4F02-4478-B9B8-685D0B626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DFF745-883A-A6E3-2E16-C73EEE7A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1104900"/>
            <a:ext cx="5448300" cy="4648200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8CE5613F-1E3B-735D-8B31-AAB63D9DF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63" y="1025532"/>
            <a:ext cx="8096686" cy="4945691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E36919C-B110-AF6D-3E86-F2851EBF0484}"/>
              </a:ext>
            </a:extLst>
          </p:cNvPr>
          <p:cNvSpPr txBox="1"/>
          <p:nvPr/>
        </p:nvSpPr>
        <p:spPr>
          <a:xfrm>
            <a:off x="4027138" y="6043613"/>
            <a:ext cx="4136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600"/>
              <a:t>Sơ đồ tổng</a:t>
            </a:r>
            <a:r>
              <a:rPr lang="vi-VN"/>
              <a:t> quan pipeline hệ thống</a:t>
            </a:r>
          </a:p>
        </p:txBody>
      </p:sp>
    </p:spTree>
    <p:extLst>
      <p:ext uri="{BB962C8B-B14F-4D97-AF65-F5344CB8AC3E}">
        <p14:creationId xmlns:p14="http://schemas.microsoft.com/office/powerpoint/2010/main" val="3505952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FE0E-299A-46D8-9DF7-2C84CBBCA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2B1B2EF-F9E2-4625-AD70-EE979A3EA521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r>
              <a:rPr lang="vi-VN" sz="2400"/>
              <a:t>26 người, 19 dòng thiết bị, thu trong điều kiện sử dụng tự nhiên</a:t>
            </a:r>
          </a:p>
          <a:p>
            <a:r>
              <a:rPr lang="vi-VN"/>
              <a:t>Mỗi người </a:t>
            </a:r>
            <a:r>
              <a:rPr lang="vi-VN" b="1"/>
              <a:t>6 phiên</a:t>
            </a:r>
            <a:r>
              <a:rPr lang="vi-VN"/>
              <a:t>: 3 hoạt động + biểu mẫu tương tác (chạm, cuộn)</a:t>
            </a:r>
          </a:p>
          <a:p>
            <a:endParaRPr lang="vi-VN" sz="2400"/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4E653-E636-4EED-9A37-BC263FE84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0B68849-2BBA-CBFF-B8BE-A6BFC3F4FB59}"/>
              </a:ext>
            </a:extLst>
          </p:cNvPr>
          <p:cNvSpPr txBox="1">
            <a:spLocks/>
          </p:cNvSpPr>
          <p:nvPr/>
        </p:nvSpPr>
        <p:spPr>
          <a:xfrm>
            <a:off x="4870341" y="5892284"/>
            <a:ext cx="2451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Bảng </a:t>
            </a:r>
            <a:r>
              <a:rPr lang="vi-VN" sz="1600"/>
              <a:t>tổng</a:t>
            </a:r>
            <a:r>
              <a:rPr lang="vi-VN"/>
              <a:t> hợp thiết bị</a:t>
            </a:r>
          </a:p>
        </p:txBody>
      </p:sp>
      <p:graphicFrame>
        <p:nvGraphicFramePr>
          <p:cNvPr id="8" name="Bảng 7">
            <a:extLst>
              <a:ext uri="{FF2B5EF4-FFF2-40B4-BE49-F238E27FC236}">
                <a16:creationId xmlns:a16="http://schemas.microsoft.com/office/drawing/2014/main" id="{7F986E9D-24E0-06A0-6994-FB860AF810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6992209"/>
              </p:ext>
            </p:extLst>
          </p:nvPr>
        </p:nvGraphicFramePr>
        <p:xfrm>
          <a:off x="1907307" y="2925564"/>
          <a:ext cx="812799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5974801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787071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248635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Hãng sản xuất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Số lượng máy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Phiên bản Android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057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Samsung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12, 13, 16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970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Xiaomi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13, 14, 16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95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Oppo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8.1, 12, 13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265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Realme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539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Tecno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706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Khác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566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8.1 - 16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513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700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5F46-7DD8-B5A1-3FC0-B232CCE5A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FB256-A415-9353-3FC1-E07837A93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69BA23E4-CECF-9924-32AA-BB85B202588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CF76F5-FF9B-A83C-B081-48EB3CEA8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7332EFAE-A17D-C546-376D-FA52A9622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35" y="1897924"/>
            <a:ext cx="4771691" cy="3391399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4127F326-E48B-0E0B-2DE5-3D0F295E1118}"/>
              </a:ext>
            </a:extLst>
          </p:cNvPr>
          <p:cNvSpPr txBox="1"/>
          <p:nvPr/>
        </p:nvSpPr>
        <p:spPr>
          <a:xfrm>
            <a:off x="828819" y="541139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Sơ đồ </a:t>
            </a:r>
            <a:r>
              <a:rPr lang="vi-VN" sz="1600"/>
              <a:t>usecase</a:t>
            </a:r>
            <a:r>
              <a:rPr lang="vi-VN"/>
              <a:t> thiết bị thu dữ liệu</a:t>
            </a:r>
          </a:p>
        </p:txBody>
      </p:sp>
      <p:pic>
        <p:nvPicPr>
          <p:cNvPr id="11" name="Hình ảnh 10">
            <a:extLst>
              <a:ext uri="{FF2B5EF4-FFF2-40B4-BE49-F238E27FC236}">
                <a16:creationId xmlns:a16="http://schemas.microsoft.com/office/drawing/2014/main" id="{4F8C2323-5A57-2BEE-7655-1301B0A52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576" y="2060024"/>
            <a:ext cx="2200275" cy="3229299"/>
          </a:xfrm>
          <a:prstGeom prst="rect">
            <a:avLst/>
          </a:prstGeom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8725FFA-1084-5159-9AD7-D3CB59E87F44}"/>
              </a:ext>
            </a:extLst>
          </p:cNvPr>
          <p:cNvSpPr txBox="1"/>
          <p:nvPr/>
        </p:nvSpPr>
        <p:spPr>
          <a:xfrm>
            <a:off x="6898885" y="5412860"/>
            <a:ext cx="25154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Cấu trúc thư mục dữ liệu </a:t>
            </a:r>
          </a:p>
          <a:p>
            <a:pPr algn="ctr"/>
            <a:r>
              <a:rPr lang="vi-VN" sz="1600"/>
              <a:t>của một người dùng</a:t>
            </a:r>
          </a:p>
        </p:txBody>
      </p:sp>
      <p:sp>
        <p:nvSpPr>
          <p:cNvPr id="13" name="Mũi tên: Phải 12">
            <a:extLst>
              <a:ext uri="{FF2B5EF4-FFF2-40B4-BE49-F238E27FC236}">
                <a16:creationId xmlns:a16="http://schemas.microsoft.com/office/drawing/2014/main" id="{DEFEE467-84CF-A072-3D77-169B251A23FC}"/>
              </a:ext>
            </a:extLst>
          </p:cNvPr>
          <p:cNvSpPr/>
          <p:nvPr/>
        </p:nvSpPr>
        <p:spPr>
          <a:xfrm>
            <a:off x="4904509" y="3429000"/>
            <a:ext cx="1191491" cy="2389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700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0B27-6FC7-41B5-6117-DAD0220E8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EDCAA-DE0D-0662-CD4B-67C5C0929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95686E7B-4CA4-3274-08AC-17FC93061603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68354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sz="2400" b="1"/>
              <a:t>Kiểm tra chất lượng và phân đoạn</a:t>
            </a:r>
            <a:endParaRPr lang="vi-VN" sz="2400"/>
          </a:p>
          <a:p>
            <a:pPr lvl="1"/>
            <a:r>
              <a:rPr lang="vi-VN" sz="2000"/>
              <a:t> Tín hiệu ngồi ít biến đổi hơn đi bộ </a:t>
            </a:r>
            <a:r>
              <a:rPr lang="vi-VN" sz="2000">
                <a:sym typeface="Wingdings" panose="05000000000000000000" pitchFamily="2" charset="2"/>
              </a:rPr>
              <a:t> 2 ngữ cảnh chính gồm đi bộ và toàn bộ (đi bộ/ đứng/ ngồi)</a:t>
            </a: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E565F-3928-F888-96C0-E41029AD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E414B43-C81E-6B96-0D6A-5467196A6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00" y="2870164"/>
            <a:ext cx="5070516" cy="2474895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0DBDAF1D-A1EE-F910-A84A-635D9DB07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981" y="2815805"/>
            <a:ext cx="5293252" cy="2583611"/>
          </a:xfrm>
          <a:prstGeom prst="rect">
            <a:avLst/>
          </a:prstGeom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E6EE3E24-A4EB-D712-7551-480BB9A2A48E}"/>
              </a:ext>
            </a:extLst>
          </p:cNvPr>
          <p:cNvSpPr txBox="1"/>
          <p:nvPr/>
        </p:nvSpPr>
        <p:spPr>
          <a:xfrm>
            <a:off x="611600" y="5480916"/>
            <a:ext cx="5070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/>
              <a:t>Tín hiệu gia tốc đi bộ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6F8AE0C3-20CB-B5E7-8D7D-24C603765A23}"/>
              </a:ext>
            </a:extLst>
          </p:cNvPr>
          <p:cNvSpPr txBox="1"/>
          <p:nvPr/>
        </p:nvSpPr>
        <p:spPr>
          <a:xfrm>
            <a:off x="6096000" y="5553517"/>
            <a:ext cx="51522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/>
              <a:t>Tín hiệu gia tốc ngồi</a:t>
            </a:r>
          </a:p>
        </p:txBody>
      </p:sp>
    </p:spTree>
    <p:extLst>
      <p:ext uri="{BB962C8B-B14F-4D97-AF65-F5344CB8AC3E}">
        <p14:creationId xmlns:p14="http://schemas.microsoft.com/office/powerpoint/2010/main" val="4194825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9D729-9D07-971C-98B5-123EF7D9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1C999-3492-2E9E-139C-77A3DF05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80AA060-FC2D-4350-A6FD-F60EA6F587EA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sz="2400" b="1"/>
              <a:t>Kiểm tra chất lượng và phân đoạn</a:t>
            </a:r>
            <a:endParaRPr lang="vi-VN" sz="2400"/>
          </a:p>
          <a:p>
            <a:pPr lvl="1"/>
            <a:r>
              <a:rPr lang="vi-VN" sz="2000"/>
              <a:t> Cắt tín hiệu tại khoảng trống lớn hơn ngưỡng và bỏ đoạn quá ngắn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860C8-7DEC-B70C-66A2-7554912C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AA580411-0BE0-4BC0-A332-B3B0A00BE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860" y="2908624"/>
            <a:ext cx="7765534" cy="284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23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15200-B78D-54AF-1AA9-B3D2EC9E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E9B7D-AF5D-F863-D05E-AB6607EA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0D5B5F52-3A62-12F3-3DE7-ABFE179DE00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b="1"/>
              <a:t>Cửa sổ trượt:</a:t>
            </a:r>
            <a:r>
              <a:rPr lang="vi-VN"/>
              <a:t> cắt thành cửa sổ </a:t>
            </a:r>
            <a:r>
              <a:rPr lang="vi-VN" b="1"/>
              <a:t>200 mẫu (~4 giây)</a:t>
            </a:r>
            <a:r>
              <a:rPr lang="vi-VN"/>
              <a:t>, bước trượt 20 → chồng lấn cao, tăng số mẫu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7B7F5-BF20-4D21-7601-82EB5BA4F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7BAE6879-9E47-89A9-F27B-E654ACEBC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671" y="2732743"/>
            <a:ext cx="7181712" cy="355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910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413B4-55AE-B51F-6B33-1086A97DB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2CE7E-E5B9-ADF8-44D4-45CF1939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EF0125EF-5E46-4025-CE5E-CFEBD6434D0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b="1"/>
              <a:t>Chuẩn hóa z-score</a:t>
            </a:r>
            <a:r>
              <a:rPr lang="vi-VN"/>
              <a:t> theo từng cửa sổ → đưa mọi thiết bị/người về </a:t>
            </a:r>
            <a:r>
              <a:rPr lang="vi-VN" b="1"/>
              <a:t>cùng thang</a:t>
            </a:r>
            <a:r>
              <a:rPr lang="vi-VN"/>
              <a:t>, khử lệch nền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65A30-78C2-DB44-A77E-6FCE714EC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046E8789-42CF-0778-DB5B-8E966CD13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084" y="2888672"/>
            <a:ext cx="4866807" cy="2841192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69356DE4-BB3A-B1E2-2942-D84C7FFD6E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109" y="2888672"/>
            <a:ext cx="4866807" cy="2882231"/>
          </a:xfrm>
          <a:prstGeom prst="rect">
            <a:avLst/>
          </a:prstGeom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AE621519-E500-DB68-083F-2B7D3102C17C}"/>
              </a:ext>
            </a:extLst>
          </p:cNvPr>
          <p:cNvSpPr txBox="1"/>
          <p:nvPr/>
        </p:nvSpPr>
        <p:spPr>
          <a:xfrm>
            <a:off x="2077786" y="5700136"/>
            <a:ext cx="24994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Tín hiệu trước chuẩn hóa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EE22FED4-410F-B1E2-E706-590588283A33}"/>
              </a:ext>
            </a:extLst>
          </p:cNvPr>
          <p:cNvSpPr txBox="1"/>
          <p:nvPr/>
        </p:nvSpPr>
        <p:spPr>
          <a:xfrm>
            <a:off x="7992570" y="5700136"/>
            <a:ext cx="2327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Tín hiệu sau chuẩn hóa</a:t>
            </a:r>
          </a:p>
        </p:txBody>
      </p:sp>
    </p:spTree>
    <p:extLst>
      <p:ext uri="{BB962C8B-B14F-4D97-AF65-F5344CB8AC3E}">
        <p14:creationId xmlns:p14="http://schemas.microsoft.com/office/powerpoint/2010/main" val="4038106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C009-2FE9-E6A0-B4FA-0E83813AA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0D06-9E8B-0981-2757-8BC66001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0BBADCF-D5C6-606C-D8FA-14ECDA5427D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3.2. Tiền xử lý dữ liệu</a:t>
            </a:r>
          </a:p>
          <a:p>
            <a:r>
              <a:rPr lang="vi-VN" sz="2400" b="1"/>
              <a:t>Kết quả: </a:t>
            </a:r>
          </a:p>
          <a:p>
            <a:pPr lvl="1"/>
            <a:r>
              <a:rPr lang="vi-VN"/>
              <a:t>Chỉ đi bộ: 54.823 cửa sổ</a:t>
            </a:r>
          </a:p>
          <a:p>
            <a:pPr lvl="1"/>
            <a:r>
              <a:rPr lang="vi-VN"/>
              <a:t>Toàn bộ: 163.145 cửa sổ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3A48A2-EF0D-780A-93D0-BC3DED524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7B9F5FCD-9152-7B60-01D3-13549C094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21" y="3063341"/>
            <a:ext cx="4178195" cy="322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46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D39F-7D4B-8919-E95C-093A3E7D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40617-7424-9516-7EA3-09E786B29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4. Xây dựng mô hình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CBB4C80-E123-AF8B-B6F8-D35F3192162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r>
              <a:rPr lang="vi-VN" sz="2400"/>
              <a:t>CNN 1D mã hóa cửa sổ 200×9 </a:t>
            </a:r>
          </a:p>
          <a:p>
            <a:pPr marL="0" indent="0">
              <a:buNone/>
            </a:pPr>
            <a:r>
              <a:rPr lang="vi-VN" sz="2400"/>
              <a:t>   → embedding 128 chiều (khảo sát cùng CNN-LSTM, CNN-BiLSTM)</a:t>
            </a:r>
          </a:p>
          <a:p>
            <a:r>
              <a:rPr lang="vi-VN" sz="2400"/>
              <a:t>Nhận dạng tập mở: </a:t>
            </a:r>
          </a:p>
          <a:p>
            <a:pPr marL="0" indent="0">
              <a:buNone/>
            </a:pPr>
            <a:r>
              <a:rPr lang="vi-VN" sz="2400"/>
              <a:t>   anchor → cosine → z-norm cohort → sigmoid (hàm cos_znorm)</a:t>
            </a:r>
          </a:p>
          <a:p>
            <a:r>
              <a:rPr lang="vi-VN" sz="2400"/>
              <a:t>Nhánh touch 33 chiều (Random Forest) + dung hợp - vai trò đối chứng</a:t>
            </a:r>
          </a:p>
          <a:p>
            <a:endParaRPr lang="vi-VN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3B307-FEAD-6E88-B9FD-0F96E618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/>
          </a:p>
        </p:txBody>
      </p:sp>
      <p:graphicFrame>
        <p:nvGraphicFramePr>
          <p:cNvPr id="7" name="Bảng 6">
            <a:extLst>
              <a:ext uri="{FF2B5EF4-FFF2-40B4-BE49-F238E27FC236}">
                <a16:creationId xmlns:a16="http://schemas.microsoft.com/office/drawing/2014/main" id="{5EC13E64-71B9-C8C4-77DD-44BBEB887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3303805"/>
              </p:ext>
            </p:extLst>
          </p:nvPr>
        </p:nvGraphicFramePr>
        <p:xfrm>
          <a:off x="1668318" y="3968115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43245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7746483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0807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Kiến trúc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Số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Dung lượng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951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 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80,0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323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954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162,6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643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50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CNN-BiLSTM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129,8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516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98365"/>
                  </a:ext>
                </a:extLst>
              </a:tr>
            </a:tbl>
          </a:graphicData>
        </a:graphic>
      </p:graphicFrame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AC69C81-C407-DF8D-A9CC-5F256D192384}"/>
              </a:ext>
            </a:extLst>
          </p:cNvPr>
          <p:cNvSpPr txBox="1"/>
          <p:nvPr/>
        </p:nvSpPr>
        <p:spPr>
          <a:xfrm>
            <a:off x="1668318" y="5579546"/>
            <a:ext cx="812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/>
              <a:t>Bảng so sánh quy mô 3 mô hình</a:t>
            </a:r>
          </a:p>
        </p:txBody>
      </p:sp>
    </p:spTree>
    <p:extLst>
      <p:ext uri="{BB962C8B-B14F-4D97-AF65-F5344CB8AC3E}">
        <p14:creationId xmlns:p14="http://schemas.microsoft.com/office/powerpoint/2010/main" val="3164548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E66D-1D48-AAE1-CA99-4F99E561C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3D47-B479-94AC-BD70-2448D9726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5. Kết quả đánh giá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FED15A5-B7C1-2ACE-E513-DBB115473F0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5.1. So sánh kiến trúc</a:t>
            </a:r>
          </a:p>
          <a:p>
            <a:r>
              <a:rPr lang="vi-VN" sz="2400"/>
              <a:t>Sử dụng 4 chỉ số: FAR, FRR, EER, AUC</a:t>
            </a:r>
          </a:p>
          <a:p>
            <a:r>
              <a:rPr lang="vi-VN" sz="2400"/>
              <a:t>Đánh giá 2 kịch bản tập đóng và tập mở</a:t>
            </a:r>
          </a:p>
          <a:p>
            <a:pPr lvl="1"/>
            <a:r>
              <a:rPr lang="vi-VN"/>
              <a:t>Tập đóng: CNN 1D tốt nhất (EER ~ 3,4%) </a:t>
            </a:r>
          </a:p>
          <a:p>
            <a:pPr lvl="1"/>
            <a:r>
              <a:rPr lang="vi-VN"/>
              <a:t>Tập mở (khó hơn): CNN 1D tốt nhất (EER ~ 21%)</a:t>
            </a:r>
            <a:endParaRPr lang="vi-VN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D529A-D641-6231-2EC6-6CB4EABE1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9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BEDE3-8FF6-B6F1-96F5-3D4011F3D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B052F-C0E8-ACFE-7B78-EA5FEB157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5. Kết quả đánh giá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5097B59-3774-698E-78E9-22D638B8458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5.2. Hàm chấm điểm</a:t>
            </a:r>
          </a:p>
          <a:p>
            <a:r>
              <a:rPr lang="vi-VN" sz="2400"/>
              <a:t>So sánh 4 hàm: cos_mean, cos_knn, cos_znorm, maha</a:t>
            </a:r>
          </a:p>
          <a:p>
            <a:pPr marL="457200" lvl="1" indent="0">
              <a:buNone/>
            </a:pPr>
            <a:r>
              <a:rPr lang="vi-VN" sz="2000">
                <a:sym typeface="Wingdings" panose="05000000000000000000" pitchFamily="2" charset="2"/>
              </a:rPr>
              <a:t> </a:t>
            </a:r>
            <a:r>
              <a:rPr lang="vi-VN" sz="2000"/>
              <a:t>cos_znorm tốt nhất: EER tập mở 10,83%; tập đóng 2,24%</a:t>
            </a:r>
          </a:p>
          <a:p>
            <a:pPr lvl="1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D1A2C6-6FDE-1ED4-CA2B-4ED2493ED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/>
          </a:p>
        </p:txBody>
      </p:sp>
      <p:graphicFrame>
        <p:nvGraphicFramePr>
          <p:cNvPr id="4" name="Bảng 3">
            <a:extLst>
              <a:ext uri="{FF2B5EF4-FFF2-40B4-BE49-F238E27FC236}">
                <a16:creationId xmlns:a16="http://schemas.microsoft.com/office/drawing/2014/main" id="{F0722A69-48EC-5F80-6CB7-44D45337BD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075151"/>
              </p:ext>
            </p:extLst>
          </p:nvPr>
        </p:nvGraphicFramePr>
        <p:xfrm>
          <a:off x="1595583" y="2982219"/>
          <a:ext cx="7863457" cy="20781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0880">
                  <a:extLst>
                    <a:ext uri="{9D8B030D-6E8A-4147-A177-3AD203B41FA5}">
                      <a16:colId xmlns:a16="http://schemas.microsoft.com/office/drawing/2014/main" val="1677443005"/>
                    </a:ext>
                  </a:extLst>
                </a:gridCol>
                <a:gridCol w="1768092">
                  <a:extLst>
                    <a:ext uri="{9D8B030D-6E8A-4147-A177-3AD203B41FA5}">
                      <a16:colId xmlns:a16="http://schemas.microsoft.com/office/drawing/2014/main" val="662104527"/>
                    </a:ext>
                  </a:extLst>
                </a:gridCol>
                <a:gridCol w="1970405">
                  <a:extLst>
                    <a:ext uri="{9D8B030D-6E8A-4147-A177-3AD203B41FA5}">
                      <a16:colId xmlns:a16="http://schemas.microsoft.com/office/drawing/2014/main" val="4270615051"/>
                    </a:ext>
                  </a:extLst>
                </a:gridCol>
                <a:gridCol w="2164080">
                  <a:extLst>
                    <a:ext uri="{9D8B030D-6E8A-4147-A177-3AD203B41FA5}">
                      <a16:colId xmlns:a16="http://schemas.microsoft.com/office/drawing/2014/main" val="2548997991"/>
                    </a:ext>
                  </a:extLst>
                </a:gridCol>
              </a:tblGrid>
              <a:tr h="411064">
                <a:tc>
                  <a:txBody>
                    <a:bodyPr/>
                    <a:lstStyle/>
                    <a:p>
                      <a:r>
                        <a:rPr lang="vi-VN"/>
                        <a:t>Hàm quyết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AUC tập mở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EER tập mở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EER tập đóng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583256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cos_znorm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10,83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2,24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0352574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10,84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2,83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1035616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14,72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3,11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10634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maha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23,12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17,51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231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7912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CEA7D3A-1FFE-C55A-00A9-55C477A56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Tiêu đề 2">
            <a:extLst>
              <a:ext uri="{FF2B5EF4-FFF2-40B4-BE49-F238E27FC236}">
                <a16:creationId xmlns:a16="http://schemas.microsoft.com/office/drawing/2014/main" id="{711C71EE-E5BC-E07D-E68B-77FB473C6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Biểu đồ 3">
            <a:extLst>
              <a:ext uri="{FF2B5EF4-FFF2-40B4-BE49-F238E27FC236}">
                <a16:creationId xmlns:a16="http://schemas.microsoft.com/office/drawing/2014/main" id="{D7B4331E-2D34-5A0E-E630-B044953B8B6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Bảng 4">
            <a:extLst>
              <a:ext uri="{FF2B5EF4-FFF2-40B4-BE49-F238E27FC236}">
                <a16:creationId xmlns:a16="http://schemas.microsoft.com/office/drawing/2014/main" id="{1145F35E-64F0-260B-C546-BA8F851DD8E6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91121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513C-E988-6802-F4FA-ECF02F61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3B4AB-BB35-950D-8F4A-8B16E57D7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4183F9-F7A2-0EAA-FAE1-84A3B3806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4545993E-6EA3-CFDB-1478-9878A3722D5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6.1. Triển khai</a:t>
            </a:r>
          </a:p>
          <a:p>
            <a:r>
              <a:rPr lang="vi-VN" sz="2400"/>
              <a:t>Suy luận trực tiếp trên thiết bị qua TensorFlow Lite → riêng tư, chạy ngoại tuyến</a:t>
            </a:r>
          </a:p>
          <a:p>
            <a:r>
              <a:rPr lang="vi-VN" sz="2400"/>
              <a:t>Xác thực liên tục: máy trạng thái 3 mức, làm mịn EWMA, ngưỡng riêng từng chủ máy</a:t>
            </a:r>
          </a:p>
          <a:p>
            <a:r>
              <a:rPr lang="vi-VN" sz="2400"/>
              <a:t>Dự phòng khi nghi ngờ người lạ: cử chỉ lắc (mã 4–8 chữ số), không quay về PIN</a:t>
            </a:r>
          </a:p>
          <a:p>
            <a:r>
              <a:rPr lang="vi-VN" sz="2400"/>
              <a:t>Sản phẩm: app xác thực, web demo</a:t>
            </a:r>
          </a:p>
          <a:p>
            <a:pPr marL="0" indent="0">
              <a:buNone/>
            </a:pP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24322528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D2020-5CEA-A050-7F17-FC208813F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2B6E4-90AC-9C71-51DC-0A23566A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0041E4-BA3D-7A93-E5A5-36EC56677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B10BE6AD-AA6E-B270-9412-2CBB2C33EB71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6.1. Triển khai</a:t>
            </a:r>
          </a:p>
          <a:p>
            <a:pPr marL="0" indent="0">
              <a:buNone/>
            </a:pPr>
            <a:endParaRPr lang="vi-VN" sz="240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79831D53-D114-4247-A88F-21849EC71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682" y="1554017"/>
            <a:ext cx="5792062" cy="3993355"/>
          </a:xfrm>
          <a:prstGeom prst="rect">
            <a:avLst/>
          </a:prstGeom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D2CD42F-072E-0A7B-7217-D5AB59B4960F}"/>
              </a:ext>
            </a:extLst>
          </p:cNvPr>
          <p:cNvSpPr txBox="1"/>
          <p:nvPr/>
        </p:nvSpPr>
        <p:spPr>
          <a:xfrm>
            <a:off x="3730152" y="5623166"/>
            <a:ext cx="3381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Sơ đồ </a:t>
            </a:r>
            <a:r>
              <a:rPr lang="vi-VN" sz="1600"/>
              <a:t>usecase</a:t>
            </a:r>
            <a:r>
              <a:rPr lang="vi-VN"/>
              <a:t> thiết bị triển khai</a:t>
            </a:r>
          </a:p>
        </p:txBody>
      </p:sp>
    </p:spTree>
    <p:extLst>
      <p:ext uri="{BB962C8B-B14F-4D97-AF65-F5344CB8AC3E}">
        <p14:creationId xmlns:p14="http://schemas.microsoft.com/office/powerpoint/2010/main" val="27692004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F685-5CD0-76AE-0E0C-9FF017D2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0F199-F58E-769C-0196-2C5E63E18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8888C4-E78A-22B9-7BE2-58FB6BCA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000C35CD-280F-DF5E-9B42-75DF2F88C9E6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6.2. Kết luận</a:t>
            </a:r>
          </a:p>
          <a:p>
            <a:r>
              <a:rPr lang="vi-VN" sz="2400"/>
              <a:t>Hệ thống hoàn chỉnh quá trình từ thu thập dữ liệu đến triển khai trên thiết bị di động</a:t>
            </a:r>
          </a:p>
          <a:p>
            <a:r>
              <a:rPr lang="vi-VN" sz="2400"/>
              <a:t>Kết quả cuối cùng: CNN 1D + cos_znorm; EER đóng 2,24% / mở 10,83%</a:t>
            </a:r>
          </a:p>
          <a:p>
            <a:r>
              <a:rPr lang="vi-VN" sz="2400"/>
              <a:t>Hạn chế: tập mở còn ~10–11%; touch chưa hiệu quả; chưa đánh giá tấn công chủ động</a:t>
            </a:r>
          </a:p>
          <a:p>
            <a:r>
              <a:rPr lang="vi-VN" sz="2400"/>
              <a:t>Hướng phát triển</a:t>
            </a:r>
          </a:p>
          <a:p>
            <a:pPr lvl="1"/>
            <a:r>
              <a:rPr lang="vi-VN"/>
              <a:t>Học biểu diễn (ArcFace)</a:t>
            </a:r>
          </a:p>
          <a:p>
            <a:pPr lvl="1"/>
            <a:r>
              <a:rPr lang="vi-VN"/>
              <a:t>Mở rộng dữ liệu</a:t>
            </a:r>
          </a:p>
          <a:p>
            <a:pPr lvl="1"/>
            <a:r>
              <a:rPr lang="vi-VN"/>
              <a:t>Hoàn thiện touch</a:t>
            </a:r>
          </a:p>
          <a:p>
            <a:pPr marL="0" indent="0">
              <a:buNone/>
            </a:pP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4090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5945A2BB-ABB6-48FB-A491-502474D93E34}"/>
              </a:ext>
            </a:extLst>
          </p:cNvPr>
          <p:cNvSpPr txBox="1">
            <a:spLocks/>
          </p:cNvSpPr>
          <p:nvPr/>
        </p:nvSpPr>
        <p:spPr>
          <a:xfrm>
            <a:off x="5605763" y="2869457"/>
            <a:ext cx="5422456" cy="9713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2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6000"/>
              <a:t>THANK YOU 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55FE58-BA70-418C-863F-55066B66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27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e4770848-7955-4ec6-9f06-ace3904740ab">
      <UserInfo>
        <DisplayName>Cán bộ viên chức Bách Khoa</DisplayName>
        <AccountId>7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B19AD86CDF2D4DBF9DAD694EFBC09D" ma:contentTypeVersion="7" ma:contentTypeDescription="Create a new document." ma:contentTypeScope="" ma:versionID="6423fc3df46fff0625ec86a02e55459f">
  <xsd:schema xmlns:xsd="http://www.w3.org/2001/XMLSchema" xmlns:xs="http://www.w3.org/2001/XMLSchema" xmlns:p="http://schemas.microsoft.com/office/2006/metadata/properties" xmlns:ns2="757826ba-dfa3-48aa-98b2-1e988427fee5" xmlns:ns3="e4770848-7955-4ec6-9f06-ace3904740ab" targetNamespace="http://schemas.microsoft.com/office/2006/metadata/properties" ma:root="true" ma:fieldsID="24cf96f43bac35fd0bad3b1a63bec25f" ns2:_="" ns3:_="">
    <xsd:import namespace="757826ba-dfa3-48aa-98b2-1e988427fee5"/>
    <xsd:import namespace="e4770848-7955-4ec6-9f06-ace390474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7826ba-dfa3-48aa-98b2-1e988427fe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770848-7955-4ec6-9f06-ace3904740a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B29E730-54C4-4C28-BED5-F21A5A17C36A}">
  <ds:schemaRefs>
    <ds:schemaRef ds:uri="c070d92c-e005-4177-a1a8-b2208be38bba"/>
    <ds:schemaRef ds:uri="c72df4cc-d2de-4b7e-8388-06b9b73bb21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e4770848-7955-4ec6-9f06-ace3904740ab"/>
  </ds:schemaRefs>
</ds:datastoreItem>
</file>

<file path=customXml/itemProps2.xml><?xml version="1.0" encoding="utf-8"?>
<ds:datastoreItem xmlns:ds="http://schemas.openxmlformats.org/officeDocument/2006/customXml" ds:itemID="{1238E738-BBF9-4972-8A16-48B0E68732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7826ba-dfa3-48aa-98b2-1e988427fee5"/>
    <ds:schemaRef ds:uri="e4770848-7955-4ec6-9f06-ace390474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CC4DF4-9078-4FA4-84E7-1FE1D3C876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1006</Words>
  <Application>Microsoft Office PowerPoint</Application>
  <PresentationFormat>Màn hình rộng</PresentationFormat>
  <Paragraphs>164</Paragraphs>
  <Slides>20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20</vt:i4>
      </vt:variant>
    </vt:vector>
  </HeadingPairs>
  <TitlesOfParts>
    <vt:vector size="25" baseType="lpstr">
      <vt:lpstr>Arial</vt:lpstr>
      <vt:lpstr>Calibri</vt:lpstr>
      <vt:lpstr>Lato</vt:lpstr>
      <vt:lpstr>Wingdings</vt:lpstr>
      <vt:lpstr>Office Theme</vt:lpstr>
      <vt:lpstr>Bản trình bày PowerPoint</vt:lpstr>
      <vt:lpstr>Bản trình bày PowerPoint</vt:lpstr>
      <vt:lpstr>Nội dung chính </vt:lpstr>
      <vt:lpstr>1. Đặt vấn đề &amp; Mục tiêu </vt:lpstr>
      <vt:lpstr>2. Tổng quan giải pháp 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4. Xây dựng mô hình</vt:lpstr>
      <vt:lpstr>5. Kết quả đánh giá</vt:lpstr>
      <vt:lpstr>5. Kết quả đánh giá</vt:lpstr>
      <vt:lpstr>Bản trình bày PowerPoint</vt:lpstr>
      <vt:lpstr>6. Triển khai &amp; kết luận</vt:lpstr>
      <vt:lpstr>6. Triển khai &amp; kết luận</vt:lpstr>
      <vt:lpstr>6. Triển khai &amp; kết luận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Mai Van Dang 20225699</cp:lastModifiedBy>
  <cp:revision>10</cp:revision>
  <dcterms:created xsi:type="dcterms:W3CDTF">2021-05-28T04:32:29Z</dcterms:created>
  <dcterms:modified xsi:type="dcterms:W3CDTF">2026-07-10T03:32:39Z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0x010100ECB19AD86CDF2D4DBF9DAD694EFBC09D</vt:lpwstr>
  </property>
  <property fmtid="{D5CDD505-2E9C-101B-9397-08002B2CF9AE}" pid="3" name="MediaServiceImageTags">
    <vt:lpwstr/>
  </property>
</Properties>
</file>